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2" r:id="rId2"/>
    <p:sldId id="306" r:id="rId3"/>
    <p:sldId id="311" r:id="rId4"/>
    <p:sldId id="313" r:id="rId5"/>
    <p:sldId id="314" r:id="rId6"/>
    <p:sldId id="307" r:id="rId7"/>
    <p:sldId id="321" r:id="rId8"/>
    <p:sldId id="280" r:id="rId9"/>
    <p:sldId id="281" r:id="rId10"/>
    <p:sldId id="318" r:id="rId11"/>
    <p:sldId id="315" r:id="rId12"/>
    <p:sldId id="32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1D246-A3B6-41BD-8026-6C32736A6965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C15A7-CC07-4C8D-AA52-6C68595440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275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AD42-572D-4CCA-BB22-C19205C33A73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9645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AD42-572D-4CCA-BB22-C19205C33A7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1780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AD42-572D-4CCA-BB22-C19205C33A7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810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AD42-572D-4CCA-BB22-C19205C33A7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459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AD42-572D-4CCA-BB22-C19205C33A73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7098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AD42-572D-4CCA-BB22-C19205C33A73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946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1BB4-0A2F-44BF-B0F6-CEB549ACA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428B7-5F56-4650-9F4E-D02D3ACEF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4177-BCF9-4E77-9971-D3696726D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1F1A-1997-4776-9D9A-113E65A6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4F9AD-D5F1-4916-97BA-9B593681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692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7D09-CBCA-49F7-A571-A2DCE805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90604-4E96-4F7E-8E72-C79513C31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30C93-B33B-4F60-985C-9A04D09C9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4B5C5-EDE1-41D1-AACF-562AA9A34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1162D-A8A1-4F7B-9AA8-554A6626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822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A0970-6C2F-426B-B804-F578688B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4CCA9-7E11-4C6B-9363-7A173454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8C85-C13B-4674-86AF-27B9A46B8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9ED1C-46CB-46AC-94ED-274C8A34C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DF610-151C-4B3E-9B86-7311DD60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431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2608-5E25-40D7-9272-B0E9DFA48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899F4-D729-4C6D-9617-46E8ADE04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DDEC-2E9A-498A-90F1-D86EC81B4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D8B01-55F3-480E-89B5-6E1EE650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4E81F-D04D-4BC2-9043-1DCB1CF6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945A-6B7B-449F-9A4D-0395F4F8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3893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D197-D28C-4B86-86C4-F1660B59A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4B7A-C210-435A-A9CE-C89BFB269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773F3-FB5A-487D-BCE2-85AD6FF3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9B563-4C72-404E-9F78-29261E3F1A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2C789F-640B-405C-B055-97615D849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92CBB9-D0F4-4DAD-85B2-59F7E7D5D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60F38-01B8-45D6-A575-A2DBE90B5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C47CF-A42C-408D-8986-FE6DFAB3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444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55B3-84D3-4525-86BF-3498A45A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18E0E-17BC-45B8-B4FB-F0247562E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D8688-D723-4242-9A4C-D03BAD019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10154-BD41-46A3-BF29-3AA20AFDD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49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9B3CD-999A-419B-BD86-9D487D3D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FCCF3-4C78-43B9-B820-EC7529E64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A15C1-AE14-4E97-9DC4-0BD7C216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942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D1C1-7669-4744-BB10-C911AEDFA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1FBA2-139C-48EE-AEA7-FFCAB3796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84AD6-E794-4F55-A22E-629757777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708C3-8581-4B78-8BC9-EC62F244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223BB-3416-4539-8F02-D138754A4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9115E-D555-4E2B-9538-27ADA578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05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5CCE4-93AC-4566-9A8E-95926992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65A8E-BDF7-4EF5-833F-8A8A8708B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4E9C2-EA29-42C7-83E7-4AAFB974B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747D-9F3F-4187-A6DA-5D4FF4F7B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05CD-8691-4CC7-8AAB-D92BB3A4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4ADBE-6538-46C3-A1FE-1E0F270EF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373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1E422-1648-4CEE-94F0-DA75EEFD7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79122-871C-41A5-86B5-F46A8AEF0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5238-60B2-40E2-A50F-433E4CEFB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5053D-8DEB-456C-A98D-A2E703EA5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6DCBF-3077-447B-8DC6-F22F16A7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250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B9BEBE-C8FA-4454-8006-5DD092400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BBFC9-689A-4D32-8B3C-ADBA8D650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0DCBF-9F3D-4AC3-826E-D1A2854A6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4262D-10B2-485D-862F-8BA4E0B9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176C8-7F63-4222-8FD2-D6C6FDAA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792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36E31E-DF8D-4152-97A2-BFDF08CD7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5C012-4541-46C8-AF65-7D5957F14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F248C-B8AF-4803-84B1-2C0BF898CB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76695-0579-48D8-92FE-6D47882A22E7}" type="datetimeFigureOut">
              <a:rPr lang="en-AU" smtClean="0"/>
              <a:t>15/10/2020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11D23-48D6-4589-B60F-8DECA4B6F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1AE52-0854-4866-8D2E-AE4DBD4A8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3B8D4-953E-4DA9-88E5-103E153630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655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xetra.com/xetra-en/trading/market-quality/xlm-xetra-liquidity-measur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2414" y="692696"/>
            <a:ext cx="9440250" cy="93610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atin typeface="Times New Roman" charset="0"/>
                <a:ea typeface="Times New Roman" charset="0"/>
                <a:cs typeface="Times New Roman" charset="0"/>
              </a:rPr>
              <a:t>Liquidity Dimensions and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93776"/>
            <a:ext cx="8229600" cy="4320480"/>
          </a:xfrm>
        </p:spPr>
        <p:txBody>
          <a:bodyPr>
            <a:normAutofit fontScale="92500" lnSpcReduction="10000"/>
          </a:bodyPr>
          <a:lstStyle/>
          <a:p>
            <a:pPr marL="0" indent="0"/>
            <a:r>
              <a:rPr lang="en-AU" dirty="0"/>
              <a:t>      </a:t>
            </a:r>
          </a:p>
          <a:p>
            <a:pPr marL="0" indent="0"/>
            <a:r>
              <a:rPr lang="en-AU" dirty="0"/>
              <a:t> </a:t>
            </a:r>
            <a:r>
              <a:rPr lang="en-AU" sz="3200" dirty="0"/>
              <a:t>How do we measure liquidity?</a:t>
            </a:r>
          </a:p>
          <a:p>
            <a:pPr>
              <a:buFont typeface="Arial" charset="0"/>
              <a:buChar char="•"/>
            </a:pPr>
            <a:endParaRPr lang="en-AU" dirty="0"/>
          </a:p>
          <a:p>
            <a:pPr marL="0" indent="0"/>
            <a:endParaRPr lang="en-GB" b="1" dirty="0"/>
          </a:p>
          <a:p>
            <a:pPr marL="0" indent="0"/>
            <a:r>
              <a:rPr lang="en-GB" sz="2600" b="1" dirty="0"/>
              <a:t>Common one-dimensional measures of liquidity</a:t>
            </a:r>
          </a:p>
          <a:p>
            <a:pPr lvl="1">
              <a:buFont typeface="Arial" charset="0"/>
              <a:buChar char="•"/>
            </a:pPr>
            <a:r>
              <a:rPr lang="en-GB" dirty="0"/>
              <a:t>Volume-related measures</a:t>
            </a:r>
          </a:p>
          <a:p>
            <a:pPr lvl="1">
              <a:buFont typeface="Arial" charset="0"/>
              <a:buChar char="•"/>
            </a:pPr>
            <a:r>
              <a:rPr lang="en-GB" dirty="0"/>
              <a:t>Time-related measures</a:t>
            </a:r>
          </a:p>
          <a:p>
            <a:pPr lvl="1">
              <a:buFont typeface="Arial" charset="0"/>
              <a:buChar char="•"/>
            </a:pPr>
            <a:r>
              <a:rPr lang="en-GB" dirty="0"/>
              <a:t>A natural measure of liquidity: the Bid-Ask spread</a:t>
            </a:r>
          </a:p>
          <a:p>
            <a:pPr lvl="1">
              <a:buFont typeface="Arial" charset="0"/>
              <a:buChar char="•"/>
            </a:pPr>
            <a:r>
              <a:rPr lang="en-GB" dirty="0"/>
              <a:t>Relative quoted spread</a:t>
            </a:r>
          </a:p>
          <a:p>
            <a:pPr>
              <a:buFont typeface="Arial" charset="0"/>
              <a:buChar char="•"/>
            </a:pPr>
            <a:r>
              <a:rPr lang="en-GB" dirty="0"/>
              <a:t>Focus here</a:t>
            </a:r>
          </a:p>
          <a:p>
            <a:pPr lvl="1">
              <a:buFont typeface="Arial" charset="0"/>
              <a:buChar char="•"/>
            </a:pPr>
            <a:r>
              <a:rPr lang="en-GB" dirty="0"/>
              <a:t>How to measure liquidity using Market Depth Data ?</a:t>
            </a:r>
          </a:p>
          <a:p>
            <a:pPr marL="0" indent="0"/>
            <a:endParaRPr lang="en-GB" b="1" dirty="0"/>
          </a:p>
          <a:p>
            <a:pPr marL="0" indent="0"/>
            <a:endParaRPr lang="en-GB" b="1" dirty="0"/>
          </a:p>
          <a:p>
            <a:pPr marL="0" indent="0"/>
            <a:endParaRPr lang="en-GB" dirty="0"/>
          </a:p>
          <a:p>
            <a:pPr marL="0" indent="0"/>
            <a:endParaRPr lang="en-GB" dirty="0"/>
          </a:p>
          <a:p>
            <a:pPr marL="0" indent="0"/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AC9C-A809-A642-80B2-FE67EA1194B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168" y="1484784"/>
            <a:ext cx="1872208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6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944" y="692697"/>
            <a:ext cx="8229600" cy="660073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latin typeface="Times New Roman" charset="0"/>
                <a:ea typeface="Times New Roman" charset="0"/>
                <a:cs typeface="Times New Roman" charset="0"/>
              </a:rPr>
              <a:t>Order Book and Market Depth data </a:t>
            </a:r>
            <a:endParaRPr lang="en-US" sz="32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en-GB" sz="1800" dirty="0"/>
              <a:t>An </a:t>
            </a:r>
            <a:r>
              <a:rPr lang="en-GB" sz="2000" b="1" dirty="0"/>
              <a:t>order</a:t>
            </a:r>
            <a:r>
              <a:rPr lang="en-GB" sz="1800" dirty="0"/>
              <a:t> in a financial market is an instruction from an investor to buy (bid) or sell (ask) a security on an exchange. </a:t>
            </a:r>
            <a:endParaRPr lang="en-AU" sz="1800" dirty="0"/>
          </a:p>
          <a:p>
            <a:pPr>
              <a:buFont typeface="Arial" charset="0"/>
              <a:buChar char="•"/>
            </a:pPr>
            <a:r>
              <a:rPr lang="en-GB" sz="1800" b="1" dirty="0"/>
              <a:t>Orders and Limit Orders:</a:t>
            </a:r>
            <a:br>
              <a:rPr lang="en-GB" sz="1800" dirty="0"/>
            </a:br>
            <a:r>
              <a:rPr lang="en-GB" sz="1800" dirty="0"/>
              <a:t>- Limit order: Order to buy or sell a stock at a specific price or lower. It doesn't guarantee execution but ensures that the determined price is not exceeded.</a:t>
            </a:r>
            <a:br>
              <a:rPr lang="en-GB" sz="1800" dirty="0"/>
            </a:br>
            <a:r>
              <a:rPr lang="en-GB" sz="1800" dirty="0"/>
              <a:t>- Market order: Order to buy or sell immediately at current market price(s). It guarantees execution, but doesn't allow a control over the price.</a:t>
            </a:r>
          </a:p>
          <a:p>
            <a:pPr>
              <a:buFont typeface="Arial" charset="0"/>
              <a:buChar char="•"/>
            </a:pPr>
            <a:r>
              <a:rPr lang="en-GB" sz="2000" b="1" dirty="0"/>
              <a:t>Order Book</a:t>
            </a:r>
          </a:p>
          <a:p>
            <a:pPr>
              <a:buFont typeface="Arial" charset="0"/>
              <a:buChar char="•"/>
            </a:pPr>
            <a:endParaRPr lang="en-GB" sz="2000" b="1" dirty="0"/>
          </a:p>
          <a:p>
            <a:pPr>
              <a:buFont typeface="Arial" charset="0"/>
              <a:buChar char="•"/>
            </a:pPr>
            <a:endParaRPr lang="en-AU" dirty="0"/>
          </a:p>
          <a:p>
            <a:pPr marL="0" indent="0"/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AC9C-A809-A642-80B2-FE67EA1194B4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792" y="3831659"/>
            <a:ext cx="3225800" cy="193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2893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0936" y="692697"/>
            <a:ext cx="8229600" cy="660073"/>
          </a:xfrm>
        </p:spPr>
        <p:txBody>
          <a:bodyPr>
            <a:noAutofit/>
          </a:bodyPr>
          <a:lstStyle/>
          <a:p>
            <a:pPr algn="l"/>
            <a:r>
              <a:rPr lang="en-GB" sz="4000" b="1" dirty="0">
                <a:latin typeface="Times New Roman" charset="0"/>
                <a:ea typeface="Times New Roman" charset="0"/>
                <a:cs typeface="Times New Roman" charset="0"/>
              </a:rPr>
              <a:t>Market Depth data </a:t>
            </a:r>
            <a:endParaRPr lang="en-US" sz="40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The content of the order book is provided through TRTH by Market Depth data. Basically, here are the data available (with k from 1 to 20 for ASX securities):</a:t>
            </a:r>
          </a:p>
          <a:p>
            <a:pPr lvl="1">
              <a:buFont typeface="Arial" charset="0"/>
              <a:buChar char="•"/>
            </a:pPr>
            <a:r>
              <a:rPr lang="en-GB" sz="1800" dirty="0"/>
              <a:t>L</a:t>
            </a:r>
            <a:r>
              <a:rPr lang="en-GB" sz="1800" baseline="-25000" dirty="0"/>
              <a:t>k</a:t>
            </a:r>
            <a:r>
              <a:rPr lang="en-GB" sz="1800" dirty="0"/>
              <a:t>-Bid Price</a:t>
            </a:r>
          </a:p>
          <a:p>
            <a:pPr lvl="1">
              <a:buFont typeface="Arial" charset="0"/>
              <a:buChar char="•"/>
            </a:pPr>
            <a:r>
              <a:rPr lang="en-GB" sz="1800" dirty="0"/>
              <a:t>L</a:t>
            </a:r>
            <a:r>
              <a:rPr lang="en-GB" sz="1800" baseline="-25000" dirty="0"/>
              <a:t>k</a:t>
            </a:r>
            <a:r>
              <a:rPr lang="en-GB" sz="1800" dirty="0"/>
              <a:t>-Bid Size</a:t>
            </a:r>
          </a:p>
          <a:p>
            <a:pPr lvl="1">
              <a:buFont typeface="Arial" charset="0"/>
              <a:buChar char="•"/>
            </a:pPr>
            <a:r>
              <a:rPr lang="en-GB" sz="1800" dirty="0"/>
              <a:t>L</a:t>
            </a:r>
            <a:r>
              <a:rPr lang="en-GB" sz="1800" baseline="-25000" dirty="0"/>
              <a:t>k</a:t>
            </a:r>
            <a:r>
              <a:rPr lang="en-GB" sz="1800" dirty="0"/>
              <a:t>-Number of Buyers</a:t>
            </a:r>
          </a:p>
          <a:p>
            <a:pPr lvl="1">
              <a:buFont typeface="Arial" charset="0"/>
              <a:buChar char="•"/>
            </a:pPr>
            <a:r>
              <a:rPr lang="en-GB" sz="1800" dirty="0"/>
              <a:t>L</a:t>
            </a:r>
            <a:r>
              <a:rPr lang="en-GB" sz="1800" baseline="-25000" dirty="0"/>
              <a:t>k</a:t>
            </a:r>
            <a:r>
              <a:rPr lang="en-GB" sz="1800" dirty="0"/>
              <a:t>-Ask Price</a:t>
            </a:r>
          </a:p>
          <a:p>
            <a:pPr lvl="1">
              <a:buFont typeface="Arial" charset="0"/>
              <a:buChar char="•"/>
            </a:pPr>
            <a:r>
              <a:rPr lang="en-GB" sz="1800" dirty="0"/>
              <a:t>L</a:t>
            </a:r>
            <a:r>
              <a:rPr lang="en-GB" sz="1800" baseline="-25000" dirty="0"/>
              <a:t>k</a:t>
            </a:r>
            <a:r>
              <a:rPr lang="en-GB" sz="1800" dirty="0"/>
              <a:t>-Ask Size</a:t>
            </a:r>
          </a:p>
          <a:p>
            <a:pPr lvl="1">
              <a:buFont typeface="Arial" charset="0"/>
              <a:buChar char="•"/>
            </a:pPr>
            <a:endParaRPr lang="en-GB" sz="1800" dirty="0"/>
          </a:p>
          <a:p>
            <a:pPr lvl="1">
              <a:buFont typeface="Arial" charset="0"/>
              <a:buChar char="•"/>
            </a:pPr>
            <a:endParaRPr lang="en-GB" sz="1800" dirty="0"/>
          </a:p>
          <a:p>
            <a:pPr>
              <a:buFont typeface="Arial" charset="0"/>
              <a:buChar char="•"/>
            </a:pPr>
            <a:endParaRPr lang="en-AU" dirty="0"/>
          </a:p>
          <a:p>
            <a:pPr marL="0" indent="0"/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AC9C-A809-A642-80B2-FE67EA1194B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F4FEA-C573-4732-9138-C691ED1EC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146" y="4173215"/>
            <a:ext cx="10210800" cy="247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30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6430" y="692696"/>
            <a:ext cx="9440250" cy="93610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atin typeface="Times New Roman" charset="0"/>
                <a:ea typeface="Times New Roman" charset="0"/>
                <a:cs typeface="Times New Roman" charset="0"/>
              </a:rPr>
              <a:t>Liquidity Dimensions and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93776"/>
            <a:ext cx="8229600" cy="4320480"/>
          </a:xfrm>
        </p:spPr>
        <p:txBody>
          <a:bodyPr/>
          <a:lstStyle/>
          <a:p>
            <a:r>
              <a:rPr lang="en-GB" b="1" dirty="0"/>
              <a:t>Liquidity as a multi-dimensional variable</a:t>
            </a:r>
          </a:p>
          <a:p>
            <a:r>
              <a:rPr lang="en-GB" b="1" dirty="0"/>
              <a:t>Transaction costs and the Market Impact approach</a:t>
            </a:r>
          </a:p>
          <a:p>
            <a:pPr lvl="1">
              <a:buFont typeface="Arial" charset="0"/>
              <a:buChar char="•"/>
            </a:pPr>
            <a:r>
              <a:rPr lang="en-GB" dirty="0"/>
              <a:t>The liquidity premium </a:t>
            </a:r>
          </a:p>
          <a:p>
            <a:pPr lvl="1">
              <a:buFont typeface="Arial" charset="0"/>
              <a:buChar char="•"/>
            </a:pPr>
            <a:r>
              <a:rPr lang="en-GB" dirty="0"/>
              <a:t>The Adverse Price Movement (APM)</a:t>
            </a:r>
          </a:p>
          <a:p>
            <a:pPr lvl="1">
              <a:buFont typeface="Arial" charset="0"/>
              <a:buChar char="•"/>
            </a:pPr>
            <a:endParaRPr lang="en-GB" dirty="0"/>
          </a:p>
          <a:p>
            <a:pPr lvl="1">
              <a:buFont typeface="Arial" charset="0"/>
              <a:buChar char="•"/>
            </a:pPr>
            <a:endParaRPr lang="en-GB" b="1" dirty="0"/>
          </a:p>
          <a:p>
            <a:pPr marL="0" indent="0"/>
            <a:endParaRPr lang="en-GB" b="1" dirty="0"/>
          </a:p>
          <a:p>
            <a:pPr marL="0" indent="0"/>
            <a:endParaRPr lang="en-GB" dirty="0"/>
          </a:p>
          <a:p>
            <a:pPr marL="0" indent="0"/>
            <a:endParaRPr lang="en-GB" dirty="0"/>
          </a:p>
          <a:p>
            <a:pPr marL="0" indent="0"/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AC9C-A809-A642-80B2-FE67EA1194B4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921" y="3546726"/>
            <a:ext cx="4176464" cy="25727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1767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889" y="2642120"/>
            <a:ext cx="5308295" cy="34773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9616" y="692696"/>
            <a:ext cx="9440250" cy="936104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Times New Roman" charset="0"/>
                <a:ea typeface="Times New Roman" charset="0"/>
                <a:cs typeface="Times New Roman" charset="0"/>
              </a:rPr>
              <a:t>Liquidity Dimensions and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93776"/>
            <a:ext cx="8229600" cy="4320480"/>
          </a:xfrm>
        </p:spPr>
        <p:txBody>
          <a:bodyPr/>
          <a:lstStyle/>
          <a:p>
            <a:r>
              <a:rPr lang="en-GB" b="1" dirty="0"/>
              <a:t>The four dimensions of liquidity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GB" sz="1800" dirty="0"/>
              <a:t>Market Breadth (i.e. trading cost)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GB" sz="1800" dirty="0"/>
              <a:t>Market Depth (i.e. trading quantity)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GB" sz="1800" dirty="0"/>
              <a:t>Resiliency (i.e. price impact)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GB" sz="1800" dirty="0"/>
              <a:t>Immediacy (i.e. trading speed)</a:t>
            </a:r>
          </a:p>
          <a:p>
            <a:pPr lvl="1">
              <a:buFont typeface="Arial" charset="0"/>
              <a:buChar char="•"/>
            </a:pPr>
            <a:endParaRPr lang="en-GB" sz="1800" dirty="0"/>
          </a:p>
          <a:p>
            <a:pPr lvl="1">
              <a:buFont typeface="Arial" charset="0"/>
              <a:buChar char="•"/>
            </a:pPr>
            <a:endParaRPr lang="en-GB" b="1" dirty="0"/>
          </a:p>
          <a:p>
            <a:pPr marL="0" indent="0"/>
            <a:endParaRPr lang="en-GB" b="1" dirty="0"/>
          </a:p>
          <a:p>
            <a:pPr marL="0" indent="0"/>
            <a:endParaRPr lang="en-GB" dirty="0"/>
          </a:p>
          <a:p>
            <a:pPr marL="0" indent="0"/>
            <a:endParaRPr lang="en-GB" dirty="0"/>
          </a:p>
          <a:p>
            <a:pPr marL="0" indent="0"/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AC9C-A809-A642-80B2-FE67EA1194B4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29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0936" y="692697"/>
            <a:ext cx="8229600" cy="660073"/>
          </a:xfrm>
        </p:spPr>
        <p:txBody>
          <a:bodyPr/>
          <a:lstStyle/>
          <a:p>
            <a:pPr algn="l"/>
            <a:r>
              <a:rPr lang="en-US" sz="3600" b="1" dirty="0">
                <a:latin typeface="Times New Roman" charset="0"/>
                <a:ea typeface="Times New Roman" charset="0"/>
                <a:cs typeface="Times New Roman" charset="0"/>
              </a:rPr>
              <a:t>Liquidity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en-GB" dirty="0"/>
              <a:t>XLM liquidity measure - Intraday liquidity</a:t>
            </a:r>
          </a:p>
          <a:p>
            <a:pPr lvl="1">
              <a:buFont typeface="Wingdings" charset="2"/>
              <a:buChar char="Ø"/>
            </a:pPr>
            <a:r>
              <a:rPr lang="en-GB" sz="1600" dirty="0"/>
              <a:t>The </a:t>
            </a:r>
            <a:r>
              <a:rPr lang="en-GB" sz="1600" dirty="0" err="1"/>
              <a:t>Xetra</a:t>
            </a:r>
            <a:r>
              <a:rPr lang="en-GB" sz="1600" dirty="0"/>
              <a:t> Liquidity Measure (XLM) introduced by Peter </a:t>
            </a:r>
            <a:r>
              <a:rPr lang="en-GB" sz="1600" dirty="0" err="1"/>
              <a:t>Gomber</a:t>
            </a:r>
            <a:r>
              <a:rPr lang="en-GB" sz="1600" dirty="0"/>
              <a:t> and used by the German securities exchange </a:t>
            </a:r>
            <a:r>
              <a:rPr lang="en-GB" sz="1600" dirty="0" err="1"/>
              <a:t>Xetra</a:t>
            </a:r>
            <a:r>
              <a:rPr lang="en-GB" sz="1600" dirty="0"/>
              <a:t> is a multi-dimensional measure of liquidity, based on the market impact, and which measures the liquidity of a security for a given trade (amount invested). </a:t>
            </a:r>
          </a:p>
          <a:p>
            <a:pPr lvl="1">
              <a:buFont typeface="Wingdings" charset="2"/>
              <a:buChar char="Ø"/>
            </a:pPr>
            <a:r>
              <a:rPr lang="en-GB" sz="1600" dirty="0"/>
              <a:t>The XLM measure offers an alternative and objective way to measure liquidity, being derived from the direct benefit for the investors, i.e. transaction costs. To sum-up the general idea of XLM measures: the lower the transaction costs are, the higher the liquidity. </a:t>
            </a:r>
          </a:p>
          <a:p>
            <a:pPr marL="400050" lvl="1" indent="0">
              <a:buNone/>
            </a:pPr>
            <a:endParaRPr lang="en-GB" sz="1600" dirty="0"/>
          </a:p>
          <a:p>
            <a:pPr marL="400050" lvl="1" indent="0">
              <a:buNone/>
            </a:pPr>
            <a:endParaRPr lang="en-US" sz="16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AC9C-A809-A642-80B2-FE67EA1194B4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101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6C7F-8327-408E-9DB6-A40AF0062C33}" type="slidenum">
              <a:rPr lang="en-AU" smtClean="0"/>
              <a:t>7</a:t>
            </a:fld>
            <a:endParaRPr lang="en-A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778190" y="5198290"/>
            <a:ext cx="542988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  <a:hlinkClick r:id="rId2"/>
              </a:rPr>
              <a:t>http://www.xetra.com/xetra-en/trading/market-quality/xlm-xetra-liquidity-measure</a:t>
            </a:r>
            <a:endParaRPr lang="en-AU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92474" y="2204743"/>
            <a:ext cx="10515600" cy="4351338"/>
          </a:xfrm>
        </p:spPr>
        <p:txBody>
          <a:bodyPr/>
          <a:lstStyle/>
          <a:p>
            <a:r>
              <a:rPr lang="en-AU" dirty="0"/>
              <a:t>XLM liquidity measure on XETRA</a:t>
            </a:r>
          </a:p>
          <a:p>
            <a:pPr lvl="1"/>
            <a:r>
              <a:rPr lang="en-AU" dirty="0"/>
              <a:t>XLM integrates the market impact costs into a single figure. </a:t>
            </a:r>
          </a:p>
          <a:p>
            <a:pPr lvl="1"/>
            <a:r>
              <a:rPr lang="en-AU" dirty="0"/>
              <a:t>Since July 2002, the measure has been calculated over the entire trading day for all shares in Continuous Trading on </a:t>
            </a:r>
            <a:r>
              <a:rPr lang="en-AU" dirty="0" err="1"/>
              <a:t>Xetra</a:t>
            </a:r>
            <a:r>
              <a:rPr lang="en-AU" dirty="0"/>
              <a:t>. </a:t>
            </a:r>
          </a:p>
          <a:p>
            <a:pPr lvl="1"/>
            <a:r>
              <a:rPr lang="en-AU" dirty="0"/>
              <a:t>The lower the XLM, the lower the market impact costs incurred in the trading of a share and the higher the liquidity of the share and its trading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3186261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3600" dirty="0"/>
              <a:t>2. Market depth data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000" dirty="0"/>
              <a:t>Date[G]:The date that a quote or trade occurs.</a:t>
            </a:r>
            <a:endParaRPr lang="en-AU" sz="2000" dirty="0"/>
          </a:p>
          <a:p>
            <a:pPr eaLnBrk="1" hangingPunct="1"/>
            <a:r>
              <a:rPr lang="en-GB" sz="2000" dirty="0"/>
              <a:t>Time[G]:The GMT time that a quote or trade occurs.</a:t>
            </a:r>
            <a:endParaRPr lang="en-AU" sz="2000" dirty="0"/>
          </a:p>
          <a:p>
            <a:pPr eaLnBrk="1" hangingPunct="1"/>
            <a:r>
              <a:rPr lang="en-GB" sz="2000" dirty="0"/>
              <a:t>GMT </a:t>
            </a:r>
            <a:r>
              <a:rPr lang="en-GB" sz="2000" dirty="0" err="1"/>
              <a:t>Offset:The</a:t>
            </a:r>
            <a:r>
              <a:rPr lang="en-GB" sz="2000" dirty="0"/>
              <a:t> value to be added to GMT time to make a local time</a:t>
            </a:r>
            <a:endParaRPr lang="en-AU" sz="2000" dirty="0"/>
          </a:p>
          <a:p>
            <a:pPr eaLnBrk="1" hangingPunct="1"/>
            <a:r>
              <a:rPr lang="en-GB" sz="2000" dirty="0"/>
              <a:t>#RIC: A unique code that represents a security.</a:t>
            </a:r>
            <a:endParaRPr lang="en-AU" sz="2000" dirty="0"/>
          </a:p>
          <a:p>
            <a:r>
              <a:rPr lang="en-AU" sz="2000" dirty="0"/>
              <a:t>L1-BidPrice</a:t>
            </a:r>
            <a:r>
              <a:rPr lang="en-GB" sz="2000" dirty="0"/>
              <a:t>: The price of the highest bid</a:t>
            </a:r>
            <a:endParaRPr lang="en-AU" sz="2000" dirty="0"/>
          </a:p>
          <a:p>
            <a:r>
              <a:rPr lang="en-AU" sz="2000" dirty="0"/>
              <a:t>L1-BidSize</a:t>
            </a:r>
            <a:r>
              <a:rPr lang="en-GB" sz="2000" dirty="0"/>
              <a:t>: The volume of all orders with highest bid</a:t>
            </a:r>
            <a:endParaRPr lang="en-AU" sz="2000" dirty="0"/>
          </a:p>
          <a:p>
            <a:r>
              <a:rPr lang="en-AU" sz="2000" dirty="0"/>
              <a:t>L1-BuyNo</a:t>
            </a:r>
            <a:r>
              <a:rPr lang="en-GB" sz="2000" dirty="0"/>
              <a:t>: The number of orders with highest bid</a:t>
            </a:r>
            <a:endParaRPr lang="en-AU" sz="2000" dirty="0"/>
          </a:p>
          <a:p>
            <a:r>
              <a:rPr lang="en-AU" sz="2000" dirty="0"/>
              <a:t>L2-BidPrice</a:t>
            </a:r>
            <a:r>
              <a:rPr lang="en-GB" sz="2000" dirty="0"/>
              <a:t>: The price of the second highest bid</a:t>
            </a:r>
            <a:endParaRPr lang="en-AU" sz="2000" dirty="0"/>
          </a:p>
          <a:p>
            <a:r>
              <a:rPr lang="en-AU" sz="2000" dirty="0"/>
              <a:t>L2-BidSize</a:t>
            </a:r>
            <a:r>
              <a:rPr lang="en-GB" sz="2000" dirty="0"/>
              <a:t>: The volume of all orders with second highest bid</a:t>
            </a:r>
            <a:endParaRPr lang="en-AU" sz="2000" dirty="0"/>
          </a:p>
          <a:p>
            <a:r>
              <a:rPr lang="en-AU" sz="2000" dirty="0"/>
              <a:t>L2-BuyNo</a:t>
            </a:r>
            <a:r>
              <a:rPr lang="en-GB" sz="2000" dirty="0"/>
              <a:t>: The number of orders with second highest bid</a:t>
            </a:r>
            <a:endParaRPr lang="en-AU" sz="2000" dirty="0"/>
          </a:p>
          <a:p>
            <a:pPr eaLnBrk="1" hangingPunct="1">
              <a:buFontTx/>
              <a:buNone/>
            </a:pPr>
            <a:r>
              <a:rPr lang="en-AU" sz="2000" dirty="0"/>
              <a:t>Etc.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43E527-F228-4379-A145-51649AAF9F90}" type="slidenum">
              <a:rPr lang="en-AU">
                <a:latin typeface="Arial" charset="0"/>
              </a:rPr>
              <a:pPr/>
              <a:t>8</a:t>
            </a:fld>
            <a:endParaRPr lang="en-AU">
              <a:latin typeface="Arial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3600" dirty="0"/>
              <a:t>Market Depth data sample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738282" y="2285993"/>
            <a:ext cx="8715406" cy="3840171"/>
          </a:xfrm>
        </p:spPr>
        <p:txBody>
          <a:bodyPr/>
          <a:lstStyle/>
          <a:p>
            <a:r>
              <a:rPr lang="en-AU" sz="1600" dirty="0"/>
              <a:t>BHP.AX,02-JAN-2012,19:05:01.737,+11,Market Depth,34.41,60,34.49,1734,34.39,20000,34.6,5300</a:t>
            </a:r>
          </a:p>
          <a:p>
            <a:r>
              <a:rPr lang="en-AU" sz="1600" dirty="0"/>
              <a:t>BHP.AX,02-JAN-2012,20:00:02.888,+11,Market Depth,34.41,60,34.49,1734,34.39,20000,34.6,5300</a:t>
            </a:r>
          </a:p>
          <a:p>
            <a:r>
              <a:rPr lang="en-AU" sz="1600" dirty="0"/>
              <a:t>BHP.AX,02-JAN-2012,20:00:03.017,+11,Market Depth,34.41,60,34.49,1734,34.39,20000,34.6,5300</a:t>
            </a:r>
          </a:p>
          <a:p>
            <a:r>
              <a:rPr lang="en-AU" sz="1600" dirty="0"/>
              <a:t>BHP.AX,02-JAN-2012,20:00:03.467,+11,Market Depth,34.41,60,34.49,1734,34.39,20000,34.6,5300</a:t>
            </a:r>
          </a:p>
          <a:p>
            <a:r>
              <a:rPr lang="en-AU" sz="1600" dirty="0"/>
              <a:t>BHP.AX,02-JAN-2012,20:00:03.469,+11,Market Depth,34.41,60,34.49,1734,34.39,20000,34.6,5300</a:t>
            </a:r>
          </a:p>
          <a:p>
            <a:r>
              <a:rPr lang="en-AU" sz="1600" dirty="0"/>
              <a:t>BHP.AX,02-JAN-2012,20:00:03.491,+11,Market Depth,34.41,60,34.6,5300,34.39,20000,34.62,180</a:t>
            </a:r>
          </a:p>
          <a:p>
            <a:r>
              <a:rPr lang="en-AU" sz="1600" dirty="0"/>
              <a:t>BHP.AX,02-JAN-2012,20:00:03.501,+11,Market Depth,34.41,60,34.6,5300,34.39,20000,34.62,180</a:t>
            </a:r>
          </a:p>
          <a:p>
            <a:pPr eaLnBrk="1" hangingPunct="1">
              <a:buFontTx/>
              <a:buNone/>
            </a:pPr>
            <a:endParaRPr lang="en-AU" sz="2000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18195A1-0A7A-4285-9767-A0159171A882}" type="slidenum">
              <a:rPr lang="en-AU">
                <a:latin typeface="Arial" charset="0"/>
              </a:rPr>
              <a:pPr/>
              <a:t>9</a:t>
            </a:fld>
            <a:endParaRPr lang="en-AU">
              <a:latin typeface="Arial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Manipulating</a:t>
            </a:r>
            <a:r>
              <a:rPr lang="fr-FR" dirty="0"/>
              <a:t> </a:t>
            </a:r>
            <a:r>
              <a:rPr lang="fr-FR" dirty="0" err="1"/>
              <a:t>market</a:t>
            </a:r>
            <a:r>
              <a:rPr lang="fr-FR" dirty="0"/>
              <a:t> </a:t>
            </a:r>
            <a:r>
              <a:rPr lang="fr-FR" dirty="0" err="1"/>
              <a:t>depth</a:t>
            </a:r>
            <a:r>
              <a:rPr lang="fr-FR" dirty="0"/>
              <a:t>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52600"/>
            <a:ext cx="8305800" cy="4873752"/>
          </a:xfrm>
        </p:spPr>
        <p:txBody>
          <a:bodyPr>
            <a:normAutofit/>
          </a:bodyPr>
          <a:lstStyle/>
          <a:p>
            <a:r>
              <a:rPr lang="fr-FR" dirty="0"/>
              <a:t>Challenges</a:t>
            </a:r>
          </a:p>
          <a:p>
            <a:pPr lvl="1"/>
            <a:r>
              <a:rPr lang="fr-FR" dirty="0"/>
              <a:t>How Financial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can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sense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huge</a:t>
            </a:r>
            <a:r>
              <a:rPr lang="fr-FR" dirty="0"/>
              <a:t> </a:t>
            </a:r>
            <a:r>
              <a:rPr lang="fr-FR" dirty="0" err="1"/>
              <a:t>amounts</a:t>
            </a:r>
            <a:r>
              <a:rPr lang="fr-FR" dirty="0"/>
              <a:t> of data?</a:t>
            </a:r>
          </a:p>
          <a:p>
            <a:pPr lvl="1"/>
            <a:r>
              <a:rPr lang="fr-FR" dirty="0" err="1"/>
              <a:t>Allow</a:t>
            </a:r>
            <a:r>
              <a:rPr lang="fr-FR" dirty="0"/>
              <a:t> the user to </a:t>
            </a:r>
            <a:r>
              <a:rPr lang="fr-FR" dirty="0" err="1"/>
              <a:t>assimilate</a:t>
            </a:r>
            <a:r>
              <a:rPr lang="fr-FR" dirty="0"/>
              <a:t> information as </a:t>
            </a:r>
            <a:r>
              <a:rPr lang="fr-FR" dirty="0" err="1"/>
              <a:t>clearly</a:t>
            </a:r>
            <a:r>
              <a:rPr lang="fr-FR" dirty="0"/>
              <a:t> and as </a:t>
            </a:r>
            <a:r>
              <a:rPr lang="fr-FR" dirty="0" err="1"/>
              <a:t>fast</a:t>
            </a:r>
            <a:r>
              <a:rPr lang="fr-FR" dirty="0"/>
              <a:t> as possible</a:t>
            </a:r>
          </a:p>
          <a:p>
            <a:pPr lvl="1"/>
            <a:r>
              <a:rPr lang="fr-FR" dirty="0">
                <a:solidFill>
                  <a:prstClr val="black"/>
                </a:solidFill>
              </a:rPr>
              <a:t>Minimal efforts for the user </a:t>
            </a:r>
            <a:endParaRPr lang="fr-FR" dirty="0"/>
          </a:p>
          <a:p>
            <a:pPr marL="365760" lvl="1" indent="0">
              <a:buNone/>
            </a:pPr>
            <a:endParaRPr lang="fr-FR" dirty="0">
              <a:sym typeface="Wingdings" pitchFamily="2" charset="2"/>
            </a:endParaRPr>
          </a:p>
          <a:p>
            <a:pPr lvl="0">
              <a:buClr>
                <a:srgbClr val="FE8637"/>
              </a:buClr>
            </a:pPr>
            <a:r>
              <a:rPr lang="fr-FR" dirty="0" err="1">
                <a:solidFill>
                  <a:prstClr val="black"/>
                </a:solidFill>
              </a:rPr>
              <a:t>Tool</a:t>
            </a:r>
            <a:r>
              <a:rPr lang="fr-FR" dirty="0">
                <a:solidFill>
                  <a:prstClr val="black"/>
                </a:solidFill>
              </a:rPr>
              <a:t> </a:t>
            </a:r>
            <a:r>
              <a:rPr lang="fr-FR" dirty="0" err="1">
                <a:solidFill>
                  <a:prstClr val="black"/>
                </a:solidFill>
              </a:rPr>
              <a:t>under</a:t>
            </a:r>
            <a:r>
              <a:rPr lang="fr-FR" dirty="0">
                <a:solidFill>
                  <a:prstClr val="black"/>
                </a:solidFill>
              </a:rPr>
              <a:t> </a:t>
            </a:r>
            <a:r>
              <a:rPr lang="fr-FR" dirty="0" err="1">
                <a:solidFill>
                  <a:prstClr val="black"/>
                </a:solidFill>
              </a:rPr>
              <a:t>development</a:t>
            </a:r>
            <a:endParaRPr lang="fr-FR" dirty="0">
              <a:solidFill>
                <a:prstClr val="black"/>
              </a:solidFill>
            </a:endParaRPr>
          </a:p>
          <a:p>
            <a:pPr lvl="1">
              <a:buClr>
                <a:srgbClr val="FE8637"/>
              </a:buClr>
            </a:pPr>
            <a:r>
              <a:rPr lang="fr-FR" dirty="0">
                <a:solidFill>
                  <a:prstClr val="black"/>
                </a:solidFill>
              </a:rPr>
              <a:t>3D + Animation (show </a:t>
            </a:r>
            <a:r>
              <a:rPr lang="fr-FR" dirty="0" err="1">
                <a:solidFill>
                  <a:prstClr val="black"/>
                </a:solidFill>
              </a:rPr>
              <a:t>many</a:t>
            </a:r>
            <a:r>
              <a:rPr lang="fr-FR" dirty="0">
                <a:solidFill>
                  <a:prstClr val="black"/>
                </a:solidFill>
              </a:rPr>
              <a:t> data in one </a:t>
            </a:r>
            <a:r>
              <a:rPr lang="fr-FR" dirty="0" err="1">
                <a:solidFill>
                  <a:prstClr val="black"/>
                </a:solidFill>
              </a:rPr>
              <a:t>picture</a:t>
            </a:r>
            <a:r>
              <a:rPr lang="fr-FR" dirty="0">
                <a:solidFill>
                  <a:prstClr val="black"/>
                </a:solidFill>
              </a:rPr>
              <a:t>)</a:t>
            </a:r>
          </a:p>
          <a:p>
            <a:pPr lvl="1">
              <a:buClr>
                <a:srgbClr val="FE8637"/>
              </a:buClr>
            </a:pPr>
            <a:r>
              <a:rPr lang="fr-FR" dirty="0" err="1">
                <a:solidFill>
                  <a:prstClr val="black"/>
                </a:solidFill>
              </a:rPr>
              <a:t>Automated</a:t>
            </a:r>
            <a:r>
              <a:rPr lang="fr-FR" dirty="0">
                <a:solidFill>
                  <a:prstClr val="black"/>
                </a:solidFill>
              </a:rPr>
              <a:t> </a:t>
            </a:r>
            <a:r>
              <a:rPr lang="fr-FR" dirty="0" err="1">
                <a:solidFill>
                  <a:prstClr val="black"/>
                </a:solidFill>
              </a:rPr>
              <a:t>process</a:t>
            </a:r>
            <a:endParaRPr lang="fr-FR" dirty="0">
              <a:solidFill>
                <a:prstClr val="black"/>
              </a:solidFill>
            </a:endParaRPr>
          </a:p>
          <a:p>
            <a:pPr lvl="1">
              <a:buClr>
                <a:srgbClr val="FE8637"/>
              </a:buClr>
            </a:pPr>
            <a:r>
              <a:rPr lang="fr-FR" dirty="0"/>
              <a:t>Fit for a </a:t>
            </a:r>
            <a:r>
              <a:rPr lang="fr-FR" dirty="0" err="1"/>
              <a:t>broad</a:t>
            </a:r>
            <a:r>
              <a:rPr lang="fr-FR" dirty="0"/>
              <a:t> range of data</a:t>
            </a:r>
          </a:p>
          <a:p>
            <a:pPr lvl="2">
              <a:buClr>
                <a:srgbClr val="FE8637"/>
              </a:buClr>
            </a:pP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price</a:t>
            </a:r>
            <a:r>
              <a:rPr lang="fr-FR" dirty="0"/>
              <a:t>, volume, time-</a:t>
            </a:r>
            <a:r>
              <a:rPr lang="fr-FR" dirty="0" err="1"/>
              <a:t>interval</a:t>
            </a:r>
            <a:r>
              <a:rPr lang="fr-FR" dirty="0"/>
              <a:t>…</a:t>
            </a:r>
          </a:p>
          <a:p>
            <a:pPr>
              <a:buFont typeface="Courier New" pitchFamily="49" charset="0"/>
              <a:buChar char="o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1999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SketchUp</a:t>
            </a:r>
            <a:r>
              <a:rPr lang="fr-FR" dirty="0"/>
              <a:t> 3D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lvl="0">
              <a:buClr>
                <a:srgbClr val="FE8637"/>
              </a:buClr>
              <a:buFont typeface="Wingdings"/>
              <a:buChar char="è"/>
            </a:pPr>
            <a:endParaRPr lang="fr-FR" dirty="0">
              <a:solidFill>
                <a:prstClr val="black"/>
              </a:solidFill>
              <a:sym typeface="Wingdings" pitchFamily="2" charset="2"/>
            </a:endParaRPr>
          </a:p>
          <a:p>
            <a:pPr lvl="0">
              <a:buClr>
                <a:srgbClr val="FE8637"/>
              </a:buClr>
              <a:buFont typeface="Wingdings"/>
              <a:buChar char="è"/>
            </a:pPr>
            <a:r>
              <a:rPr lang="fr-FR" dirty="0">
                <a:solidFill>
                  <a:prstClr val="black"/>
                </a:solidFill>
                <a:sym typeface="Wingdings" pitchFamily="2" charset="2"/>
              </a:rPr>
              <a:t>3D components </a:t>
            </a:r>
            <a:r>
              <a:rPr lang="fr-FR" dirty="0" err="1">
                <a:solidFill>
                  <a:prstClr val="black"/>
                </a:solidFill>
                <a:sym typeface="Wingdings" pitchFamily="2" charset="2"/>
              </a:rPr>
              <a:t>linked</a:t>
            </a:r>
            <a:r>
              <a:rPr lang="fr-FR" dirty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fr-FR" dirty="0" err="1">
                <a:solidFill>
                  <a:prstClr val="black"/>
                </a:solidFill>
                <a:sym typeface="Wingdings" pitchFamily="2" charset="2"/>
              </a:rPr>
              <a:t>together</a:t>
            </a:r>
            <a:r>
              <a:rPr lang="fr-FR" dirty="0">
                <a:solidFill>
                  <a:prstClr val="black"/>
                </a:solidFill>
                <a:sym typeface="Wingdings" pitchFamily="2" charset="2"/>
              </a:rPr>
              <a:t>, made </a:t>
            </a:r>
            <a:r>
              <a:rPr lang="fr-FR" dirty="0" err="1">
                <a:solidFill>
                  <a:prstClr val="black"/>
                </a:solidFill>
                <a:sym typeface="Wingdings" pitchFamily="2" charset="2"/>
              </a:rPr>
              <a:t>dynamic</a:t>
            </a:r>
            <a:r>
              <a:rPr lang="fr-FR" dirty="0">
                <a:solidFill>
                  <a:prstClr val="black"/>
                </a:solidFill>
                <a:sym typeface="Wingdings" pitchFamily="2" charset="2"/>
              </a:rPr>
              <a:t> by </a:t>
            </a:r>
            <a:r>
              <a:rPr lang="fr-FR" dirty="0" err="1">
                <a:solidFill>
                  <a:prstClr val="black"/>
                </a:solidFill>
                <a:sym typeface="Wingdings" pitchFamily="2" charset="2"/>
              </a:rPr>
              <a:t>SimFonIA</a:t>
            </a:r>
            <a:r>
              <a:rPr lang="fr-FR" dirty="0">
                <a:solidFill>
                  <a:prstClr val="black"/>
                </a:solidFill>
                <a:sym typeface="Wingdings" pitchFamily="2" charset="2"/>
              </a:rPr>
              <a:t> plugin</a:t>
            </a:r>
          </a:p>
        </p:txBody>
      </p:sp>
      <p:pic>
        <p:nvPicPr>
          <p:cNvPr id="1026" name="Picture 2" descr="C:\Users\Tiow\Desktop\Presentation\Screenshot_model_explanation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1" y="1573696"/>
            <a:ext cx="8450741" cy="411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57969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96E10-34AB-4F83-8801-92C12EA0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376A4-5801-4C1A-A700-91BFD1AE4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1" y="2708921"/>
            <a:ext cx="8627807" cy="3446075"/>
          </a:xfrm>
        </p:spPr>
        <p:txBody>
          <a:bodyPr/>
          <a:lstStyle/>
          <a:p>
            <a:r>
              <a:rPr lang="en-AU" dirty="0"/>
              <a:t>We will be using </a:t>
            </a:r>
            <a:r>
              <a:rPr lang="en-AU"/>
              <a:t>intraday measures from </a:t>
            </a:r>
            <a:r>
              <a:rPr lang="en-AU" dirty="0"/>
              <a:t>previous activity</a:t>
            </a:r>
          </a:p>
          <a:p>
            <a:r>
              <a:rPr lang="en-GB" b="1" dirty="0"/>
              <a:t>04. Aggregating intraday series in R</a:t>
            </a:r>
          </a:p>
          <a:p>
            <a:r>
              <a:rPr lang="en-GB" b="1" dirty="0"/>
              <a:t>05. Building Intraday returns in R</a:t>
            </a:r>
            <a:endParaRPr lang="en-AU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6FA17-19BE-4CC6-92CA-9C954CACD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5396-0531-4E8E-B61D-D33663426CFD}" type="slidenum">
              <a:rPr lang="en-AU" smtClean="0"/>
              <a:pPr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78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788</Words>
  <Application>Microsoft Office PowerPoint</Application>
  <PresentationFormat>Widescreen</PresentationFormat>
  <Paragraphs>121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Liquidity Dimensions and Measures</vt:lpstr>
      <vt:lpstr>Order Book and Market Depth data </vt:lpstr>
      <vt:lpstr>Market Depth data </vt:lpstr>
      <vt:lpstr>Liquidity Dimensions and Measures</vt:lpstr>
      <vt:lpstr>Liquidity Dimensions and Measures</vt:lpstr>
      <vt:lpstr>Liquidity Measures</vt:lpstr>
      <vt:lpstr>Additional information</vt:lpstr>
      <vt:lpstr>2. Market depth data</vt:lpstr>
      <vt:lpstr>Market Depth data sample</vt:lpstr>
      <vt:lpstr>Manipulating market depth data</vt:lpstr>
      <vt:lpstr>SketchUp 3D model</vt:lpstr>
      <vt:lpstr>Activities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Fethi Rabhi</dc:creator>
  <cp:lastModifiedBy>Fethi Rabhi</cp:lastModifiedBy>
  <cp:revision>3</cp:revision>
  <dcterms:created xsi:type="dcterms:W3CDTF">2020-09-30T02:43:35Z</dcterms:created>
  <dcterms:modified xsi:type="dcterms:W3CDTF">2020-10-15T06:23:22Z</dcterms:modified>
</cp:coreProperties>
</file>